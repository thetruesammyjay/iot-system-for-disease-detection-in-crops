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7" r:id="rId2"/>
    <p:sldId id="260" r:id="rId3"/>
    <p:sldId id="263" r:id="rId4"/>
    <p:sldId id="264" r:id="rId5"/>
    <p:sldId id="268" r:id="rId6"/>
    <p:sldId id="261" r:id="rId7"/>
    <p:sldId id="269" r:id="rId8"/>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E9A30BF6-7621-430F-BF1D-D19D812B588C}" type="datetimeFigureOut">
              <a:rPr lang="en-GB" smtClean="0"/>
              <a:t>27/04/2026</a:t>
            </a:fld>
            <a:endParaRPr lang="en-GB"/>
          </a:p>
        </p:txBody>
      </p:sp>
      <p:sp>
        <p:nvSpPr>
          <p:cNvPr id="4" name="Footer Placehold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ED5777D-0745-4AE3-89C2-273EE7161840}" type="slidenum">
              <a:rPr lang="en-GB" smtClean="0"/>
              <a:t>‹#›</a:t>
            </a:fld>
            <a:endParaRPr lang="en-GB"/>
          </a:p>
        </p:txBody>
      </p:sp>
    </p:spTree>
    <p:extLst>
      <p:ext uri="{BB962C8B-B14F-4D97-AF65-F5344CB8AC3E}">
        <p14:creationId xmlns:p14="http://schemas.microsoft.com/office/powerpoint/2010/main" val="182067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958" cy="49576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098" y="1"/>
            <a:ext cx="2944958" cy="495765"/>
          </a:xfrm>
          <a:prstGeom prst="rect">
            <a:avLst/>
          </a:prstGeom>
        </p:spPr>
        <p:txBody>
          <a:bodyPr vert="horz" lIns="91440" tIns="45720" rIns="91440" bIns="45720" rtlCol="0"/>
          <a:lstStyle>
            <a:lvl1pPr algn="r">
              <a:defRPr sz="1200"/>
            </a:lvl1pPr>
          </a:lstStyle>
          <a:p>
            <a:fld id="{819D3626-7678-463A-B931-DA160CFBCF66}" type="datetimeFigureOut">
              <a:rPr lang="en-GB" smtClean="0"/>
              <a:t>27/04/2026</a:t>
            </a:fld>
            <a:endParaRPr lang="en-GB"/>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606" y="4752398"/>
            <a:ext cx="5438464" cy="388717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8485"/>
            <a:ext cx="2944958" cy="49576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098" y="9378485"/>
            <a:ext cx="2944958" cy="495765"/>
          </a:xfrm>
          <a:prstGeom prst="rect">
            <a:avLst/>
          </a:prstGeom>
        </p:spPr>
        <p:txBody>
          <a:bodyPr vert="horz" lIns="91440" tIns="45720" rIns="91440" bIns="45720" rtlCol="0" anchor="b"/>
          <a:lstStyle>
            <a:lvl1pPr algn="r">
              <a:defRPr sz="1200"/>
            </a:lvl1pPr>
          </a:lstStyle>
          <a:p>
            <a:fld id="{E7FBE6E5-A34C-44AB-8866-F8A3F4B85DD6}" type="slidenum">
              <a:rPr lang="en-GB" smtClean="0"/>
              <a:t>‹#›</a:t>
            </a:fld>
            <a:endParaRPr lang="en-GB"/>
          </a:p>
        </p:txBody>
      </p:sp>
    </p:spTree>
    <p:extLst>
      <p:ext uri="{BB962C8B-B14F-4D97-AF65-F5344CB8AC3E}">
        <p14:creationId xmlns:p14="http://schemas.microsoft.com/office/powerpoint/2010/main" val="304920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1CEFE56-E409-4611-84B6-78D55979C5E7}" type="datetime1">
              <a:rPr lang="en-GB" smtClean="0"/>
              <a:t>27/04/2026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1561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5301482-A7F7-44F1-A175-734AED33DA15}" type="datetime1">
              <a:rPr lang="en-GB" smtClean="0"/>
              <a:t>27/04/2026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403474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66DF6F9-F195-40B3-A65B-F390EA6476BF}" type="datetime1">
              <a:rPr lang="en-GB" smtClean="0"/>
              <a:t>27/04/2026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9693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63BBE8F-6F0A-4687-85B5-47336FB8B589}" type="datetime1">
              <a:rPr lang="en-GB" smtClean="0"/>
              <a:t>27/04/2026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10307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9F2696A-03E5-48AD-BD16-61940EDEE003}" type="datetime1">
              <a:rPr lang="en-GB" smtClean="0"/>
              <a:t>27/04/2026</a:t>
            </a:fld>
            <a:endParaRPr lang="en-GB"/>
          </a:p>
        </p:txBody>
      </p:sp>
      <p:sp>
        <p:nvSpPr>
          <p:cNvPr id="8" name="Footer Placeholder 7"/>
          <p:cNvSpPr>
            <a:spLocks noGrp="1"/>
          </p:cNvSpPr>
          <p:nvPr>
            <p:ph type="ftr" sz="quarter" idx="11"/>
          </p:nvPr>
        </p:nvSpPr>
        <p:spPr/>
        <p:txBody>
          <a:bodyPr/>
          <a:lstStyle/>
          <a:p>
            <a:r>
              <a:rPr lang="en-US"/>
              <a:t>Information Technology Department / Seminar Presentation 2021</a:t>
            </a:r>
            <a:endParaRPr lang="en-GB"/>
          </a:p>
        </p:txBody>
      </p:sp>
      <p:sp>
        <p:nvSpPr>
          <p:cNvPr id="9" name="Slide Number Placeholder 8"/>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72900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FF28B43-AD91-4B0A-B352-8AD5E6AB1017}" type="datetime1">
              <a:rPr lang="en-GB" smtClean="0"/>
              <a:t>27/04/2026</a:t>
            </a:fld>
            <a:endParaRPr lang="en-GB"/>
          </a:p>
        </p:txBody>
      </p:sp>
      <p:sp>
        <p:nvSpPr>
          <p:cNvPr id="4" name="Footer Placeholder 3"/>
          <p:cNvSpPr>
            <a:spLocks noGrp="1"/>
          </p:cNvSpPr>
          <p:nvPr>
            <p:ph type="ftr" sz="quarter" idx="11"/>
          </p:nvPr>
        </p:nvSpPr>
        <p:spPr/>
        <p:txBody>
          <a:bodyPr/>
          <a:lstStyle/>
          <a:p>
            <a:r>
              <a:rPr lang="en-US"/>
              <a:t>Information Technology Department / Seminar Presentation 2021</a:t>
            </a:r>
            <a:endParaRPr lang="en-GB"/>
          </a:p>
        </p:txBody>
      </p:sp>
      <p:sp>
        <p:nvSpPr>
          <p:cNvPr id="5" name="Slide Number Placeholder 4"/>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54629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69C94-1FC0-41EC-9C0A-AB52040020ED}" type="datetime1">
              <a:rPr lang="en-GB" smtClean="0"/>
              <a:t>27/04/2026</a:t>
            </a:fld>
            <a:endParaRPr lang="en-GB"/>
          </a:p>
        </p:txBody>
      </p:sp>
      <p:sp>
        <p:nvSpPr>
          <p:cNvPr id="3" name="Footer Placeholder 2"/>
          <p:cNvSpPr>
            <a:spLocks noGrp="1"/>
          </p:cNvSpPr>
          <p:nvPr>
            <p:ph type="ftr" sz="quarter" idx="11"/>
          </p:nvPr>
        </p:nvSpPr>
        <p:spPr/>
        <p:txBody>
          <a:bodyPr/>
          <a:lstStyle/>
          <a:p>
            <a:r>
              <a:rPr lang="en-US"/>
              <a:t>Information Technology Department / Seminar Presentation 2021</a:t>
            </a:r>
            <a:endParaRPr lang="en-GB"/>
          </a:p>
        </p:txBody>
      </p:sp>
      <p:sp>
        <p:nvSpPr>
          <p:cNvPr id="4" name="Slide Number Placeholder 3"/>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7361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F9D360-BA16-419B-BDF3-CE0285C51E50}" type="datetime1">
              <a:rPr lang="en-GB" smtClean="0"/>
              <a:t>27/04/2026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231986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346B3-4381-474C-9C47-DF3F7EFD488B}" type="datetime1">
              <a:rPr lang="en-GB" smtClean="0"/>
              <a:t>27/04/2026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15382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0579F78-A794-45F8-B8CE-795CE3B27278}" type="datetime1">
              <a:rPr lang="en-GB" smtClean="0"/>
              <a:t>27/04/2026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72618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49D5E-91C7-4E4C-AF67-67C7E168A5A4}" type="datetime1">
              <a:rPr lang="en-GB" smtClean="0"/>
              <a:t>27/04/2026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880169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14E86-C9A5-4B56-BCDB-225823666A33}" type="datetime1">
              <a:rPr lang="en-GB" smtClean="0"/>
              <a:t>27/04/2026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Information Technology Department / Seminar Presentation 2021</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B7500-84E7-42C8-9A57-AC33187A24A8}" type="slidenum">
              <a:rPr lang="en-GB" smtClean="0"/>
              <a:t>‹#›</a:t>
            </a:fld>
            <a:endParaRPr lang="en-GB"/>
          </a:p>
        </p:txBody>
      </p:sp>
    </p:spTree>
    <p:extLst>
      <p:ext uri="{BB962C8B-B14F-4D97-AF65-F5344CB8AC3E}">
        <p14:creationId xmlns:p14="http://schemas.microsoft.com/office/powerpoint/2010/main" val="149582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93" y="849255"/>
            <a:ext cx="10515600" cy="1325563"/>
          </a:xfrm>
        </p:spPr>
        <p:txBody>
          <a:bodyPr>
            <a:normAutofit fontScale="90000"/>
          </a:bodyPr>
          <a:lstStyle/>
          <a:p>
            <a:pPr algn="ctr"/>
            <a:r>
              <a:rPr lang="en-US" b="1" dirty="0"/>
              <a:t>DESIGN AND IMPLEMENTATION OF AN IOT SYSTEM FOR CROP DISEASE DETECTION </a:t>
            </a:r>
            <a:br>
              <a:rPr lang="en-US" dirty="0"/>
            </a:br>
            <a:endParaRPr lang="en-GB" sz="4000" dirty="0">
              <a:latin typeface="Corbel" panose="020B0503020204020204" pitchFamily="34" charset="0"/>
              <a:cs typeface="Arial" panose="020B0604020202020204" pitchFamily="34" charset="0"/>
            </a:endParaRPr>
          </a:p>
        </p:txBody>
      </p:sp>
      <p:sp>
        <p:nvSpPr>
          <p:cNvPr id="3" name="Content Placeholder 2"/>
          <p:cNvSpPr>
            <a:spLocks noGrp="1"/>
          </p:cNvSpPr>
          <p:nvPr>
            <p:ph idx="1"/>
          </p:nvPr>
        </p:nvSpPr>
        <p:spPr>
          <a:xfrm>
            <a:off x="1974272" y="3026536"/>
            <a:ext cx="9011407" cy="2859110"/>
          </a:xfrm>
        </p:spPr>
        <p:txBody>
          <a:bodyPr>
            <a:normAutofit fontScale="85000" lnSpcReduction="20000"/>
          </a:bodyPr>
          <a:lstStyle/>
          <a:p>
            <a:pPr marL="0" indent="0">
              <a:buNone/>
            </a:pPr>
            <a:r>
              <a:rPr lang="en-GB" sz="3200" dirty="0">
                <a:solidFill>
                  <a:srgbClr val="FF0000"/>
                </a:solidFill>
                <a:latin typeface="Corbel" panose="020B0503020204020204" pitchFamily="34" charset="0"/>
                <a:cs typeface="Arial" panose="020B0604020202020204" pitchFamily="34" charset="0"/>
              </a:rPr>
              <a:t>SAMUEL JUSTIN IFIEZIBE 20211265072</a:t>
            </a:r>
          </a:p>
          <a:p>
            <a:pPr marL="0" indent="0">
              <a:buNone/>
            </a:pPr>
            <a:r>
              <a:rPr lang="en-GB" sz="3200" dirty="0">
                <a:solidFill>
                  <a:srgbClr val="FF0000"/>
                </a:solidFill>
                <a:latin typeface="Corbel" panose="020B0503020204020204" pitchFamily="34" charset="0"/>
                <a:cs typeface="Arial" panose="020B0604020202020204" pitchFamily="34" charset="0"/>
              </a:rPr>
              <a:t>OKEKE PRINCE PROSPER 20211286122</a:t>
            </a:r>
          </a:p>
          <a:p>
            <a:pPr marL="0" indent="0">
              <a:buNone/>
            </a:pPr>
            <a:r>
              <a:rPr lang="en-GB" sz="3200" dirty="0">
                <a:solidFill>
                  <a:srgbClr val="FF0000"/>
                </a:solidFill>
                <a:latin typeface="Corbel" panose="020B0503020204020204" pitchFamily="34" charset="0"/>
                <a:cs typeface="Arial" panose="020B0604020202020204" pitchFamily="34" charset="0"/>
              </a:rPr>
              <a:t>PRINCE IFEANYICHUKWU EJIMAKOR 20211257692</a:t>
            </a:r>
          </a:p>
          <a:p>
            <a:pPr marL="0" indent="0">
              <a:buNone/>
            </a:pPr>
            <a:r>
              <a:rPr lang="en-GB" sz="3200" dirty="0">
                <a:solidFill>
                  <a:srgbClr val="FF0000"/>
                </a:solidFill>
                <a:latin typeface="Corbel" panose="020B0503020204020204" pitchFamily="34" charset="0"/>
                <a:cs typeface="Arial" panose="020B0604020202020204" pitchFamily="34" charset="0"/>
              </a:rPr>
              <a:t>CHIDUBEM CHUKWUKA EMMANUEL 20222333192</a:t>
            </a: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r>
              <a:rPr lang="en-GB" sz="3200" dirty="0">
                <a:solidFill>
                  <a:srgbClr val="0070C0"/>
                </a:solidFill>
                <a:latin typeface="Corbel" panose="020B0503020204020204" pitchFamily="34" charset="0"/>
                <a:cs typeface="Arial" panose="020B0604020202020204" pitchFamily="34" charset="0"/>
              </a:rPr>
              <a:t>SUPERVISOR: DR. AGUWA G. IHEANYICHUKWU</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48267" y="77274"/>
            <a:ext cx="683231" cy="739239"/>
          </a:xfrm>
          <a:prstGeom prst="rect">
            <a:avLst/>
          </a:prstGeom>
        </p:spPr>
      </p:pic>
      <p:sp>
        <p:nvSpPr>
          <p:cNvPr id="5" name="Footer Placeholder 4"/>
          <p:cNvSpPr>
            <a:spLocks noGrp="1"/>
          </p:cNvSpPr>
          <p:nvPr>
            <p:ph type="ftr" sz="quarter" idx="11"/>
          </p:nvPr>
        </p:nvSpPr>
        <p:spPr/>
        <p:txBody>
          <a:bodyPr/>
          <a:lstStyle/>
          <a:p>
            <a:r>
              <a:rPr lang="en-US" dirty="0"/>
              <a:t>Department of Software Engineering -  Seminar  ©2026</a:t>
            </a:r>
            <a:endParaRPr lang="en-GB" dirty="0"/>
          </a:p>
        </p:txBody>
      </p:sp>
      <p:sp>
        <p:nvSpPr>
          <p:cNvPr id="6" name="Slide Number Placeholder 5">
            <a:extLst>
              <a:ext uri="{FF2B5EF4-FFF2-40B4-BE49-F238E27FC236}">
                <a16:creationId xmlns:a16="http://schemas.microsoft.com/office/drawing/2014/main" id="{D5A1967E-D55A-4103-86BC-123CF935D49E}"/>
              </a:ext>
            </a:extLst>
          </p:cNvPr>
          <p:cNvSpPr>
            <a:spLocks noGrp="1"/>
          </p:cNvSpPr>
          <p:nvPr>
            <p:ph type="sldNum" sz="quarter" idx="12"/>
          </p:nvPr>
        </p:nvSpPr>
        <p:spPr/>
        <p:txBody>
          <a:bodyPr/>
          <a:lstStyle/>
          <a:p>
            <a:fld id="{60CB7500-84E7-42C8-9A57-AC33187A24A8}" type="slidenum">
              <a:rPr lang="en-GB" smtClean="0"/>
              <a:t>1</a:t>
            </a:fld>
            <a:endParaRPr lang="en-GB"/>
          </a:p>
        </p:txBody>
      </p:sp>
      <p:pic>
        <p:nvPicPr>
          <p:cNvPr id="8" name="Picture 7" descr="A logo with green letters and a chip&#10;&#10;Description automatically generated">
            <a:extLst>
              <a:ext uri="{FF2B5EF4-FFF2-40B4-BE49-F238E27FC236}">
                <a16:creationId xmlns:a16="http://schemas.microsoft.com/office/drawing/2014/main" id="{10E194A0-085F-F8A6-417A-90D9FB370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43" y="191759"/>
            <a:ext cx="1028700" cy="624754"/>
          </a:xfrm>
          <a:prstGeom prst="rect">
            <a:avLst/>
          </a:prstGeom>
        </p:spPr>
      </p:pic>
    </p:spTree>
    <p:extLst>
      <p:ext uri="{BB962C8B-B14F-4D97-AF65-F5344CB8AC3E}">
        <p14:creationId xmlns:p14="http://schemas.microsoft.com/office/powerpoint/2010/main" val="381343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Arial" panose="020B0604020202020204" pitchFamily="34" charset="0"/>
                <a:cs typeface="Arial" panose="020B0604020202020204" pitchFamily="34" charset="0"/>
              </a:rPr>
              <a:t>INTRODUCTION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5946" y="48783"/>
            <a:ext cx="828226" cy="896120"/>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C9AC4450-3E97-41C5-A1D7-8A59B3719115}"/>
              </a:ext>
            </a:extLst>
          </p:cNvPr>
          <p:cNvSpPr>
            <a:spLocks noGrp="1"/>
          </p:cNvSpPr>
          <p:nvPr>
            <p:ph type="sldNum" sz="quarter" idx="12"/>
          </p:nvPr>
        </p:nvSpPr>
        <p:spPr/>
        <p:txBody>
          <a:bodyPr/>
          <a:lstStyle/>
          <a:p>
            <a:fld id="{60CB7500-84E7-42C8-9A57-AC33187A24A8}" type="slidenum">
              <a:rPr lang="en-GB" smtClean="0"/>
              <a:t>2</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1E3A0C06-B168-5029-B395-43CBED696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202497"/>
            <a:ext cx="1028700" cy="476250"/>
          </a:xfrm>
          <a:prstGeom prst="rect">
            <a:avLst/>
          </a:prstGeom>
        </p:spPr>
      </p:pic>
      <p:sp>
        <p:nvSpPr>
          <p:cNvPr id="8" name="TextBox 7">
            <a:extLst>
              <a:ext uri="{FF2B5EF4-FFF2-40B4-BE49-F238E27FC236}">
                <a16:creationId xmlns:a16="http://schemas.microsoft.com/office/drawing/2014/main" id="{FBEFBD05-6A48-D731-81F0-D98EFBDFDC03}"/>
              </a:ext>
            </a:extLst>
          </p:cNvPr>
          <p:cNvSpPr txBox="1"/>
          <p:nvPr/>
        </p:nvSpPr>
        <p:spPr>
          <a:xfrm>
            <a:off x="1268963" y="1371600"/>
            <a:ext cx="10084837" cy="4247317"/>
          </a:xfrm>
          <a:prstGeom prst="rect">
            <a:avLst/>
          </a:prstGeom>
          <a:noFill/>
        </p:spPr>
        <p:txBody>
          <a:bodyPr wrap="square" rtlCol="0">
            <a:spAutoFit/>
          </a:bodyPr>
          <a:lstStyle/>
          <a:p>
            <a:r>
              <a:rPr lang="en-US" b="1" dirty="0">
                <a:latin typeface="Corbel" panose="020B0503020204020204" pitchFamily="34" charset="0"/>
                <a:cs typeface="Arial" panose="020B0604020202020204" pitchFamily="34" charset="0"/>
              </a:rPr>
              <a:t>Agricultural Importance</a:t>
            </a:r>
            <a:r>
              <a:rPr lang="en-US" dirty="0">
                <a:latin typeface="Corbel" panose="020B0503020204020204" pitchFamily="34" charset="0"/>
                <a:cs typeface="Arial" panose="020B0604020202020204" pitchFamily="34" charset="0"/>
              </a:rPr>
              <a:t>: Agriculture is a pillar of human civilization, feeding over 70% of the global population.</a:t>
            </a:r>
          </a:p>
          <a:p>
            <a:br>
              <a:rPr lang="en-US" dirty="0">
                <a:latin typeface="Corbel" panose="020B0503020204020204" pitchFamily="34" charset="0"/>
                <a:cs typeface="Arial" panose="020B0604020202020204" pitchFamily="34" charset="0"/>
              </a:rPr>
            </a:br>
            <a:r>
              <a:rPr lang="en-US" b="1" dirty="0">
                <a:latin typeface="Corbel" panose="020B0503020204020204" pitchFamily="34" charset="0"/>
              </a:rPr>
              <a:t>Rural Livelihood</a:t>
            </a:r>
            <a:r>
              <a:rPr lang="en-US" dirty="0">
                <a:latin typeface="Corbel" panose="020B0503020204020204" pitchFamily="34" charset="0"/>
              </a:rPr>
              <a:t>: The sector provides the primary source of income for the majority of the rural population.</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Food Insecurity</a:t>
            </a:r>
            <a:r>
              <a:rPr lang="en-US" dirty="0">
                <a:latin typeface="Corbel" panose="020B0503020204020204" pitchFamily="34" charset="0"/>
              </a:rPr>
              <a:t>: Approximately </a:t>
            </a:r>
            <a:r>
              <a:rPr lang="en-US" b="1" dirty="0">
                <a:latin typeface="Corbel" panose="020B0503020204020204" pitchFamily="34" charset="0"/>
              </a:rPr>
              <a:t>257 million</a:t>
            </a:r>
            <a:r>
              <a:rPr lang="en-US" dirty="0">
                <a:latin typeface="Corbel" panose="020B0503020204020204" pitchFamily="34" charset="0"/>
              </a:rPr>
              <a:t> people in sub-Saharan Africa face acute food insecurity.</a:t>
            </a:r>
            <a:br>
              <a:rPr lang="en-US" dirty="0">
                <a:latin typeface="Corbel" panose="020B0503020204020204" pitchFamily="34" charset="0"/>
              </a:rPr>
            </a:br>
            <a:br>
              <a:rPr lang="en-US" dirty="0">
                <a:latin typeface="Corbel" panose="020B0503020204020204" pitchFamily="34" charset="0"/>
              </a:rPr>
            </a:br>
            <a:r>
              <a:rPr lang="en-US" b="1" dirty="0">
                <a:latin typeface="Corbel" panose="020B0503020204020204" pitchFamily="34" charset="0"/>
              </a:rPr>
              <a:t>Yield Loss</a:t>
            </a:r>
            <a:r>
              <a:rPr lang="en-US" dirty="0">
                <a:latin typeface="Corbel" panose="020B0503020204020204" pitchFamily="34" charset="0"/>
              </a:rPr>
              <a:t>: Crop diseases cause pre-harvest losses of </a:t>
            </a:r>
            <a:r>
              <a:rPr lang="en-US" b="1" dirty="0">
                <a:latin typeface="Corbel" panose="020B0503020204020204" pitchFamily="34" charset="0"/>
              </a:rPr>
              <a:t>20% to 40%</a:t>
            </a:r>
            <a:r>
              <a:rPr lang="en-US" dirty="0">
                <a:latin typeface="Corbel" panose="020B0503020204020204" pitchFamily="34" charset="0"/>
              </a:rPr>
              <a:t> globally, valued at over </a:t>
            </a:r>
            <a:r>
              <a:rPr lang="en-US" b="1" dirty="0">
                <a:latin typeface="Corbel" panose="020B0503020204020204" pitchFamily="34" charset="0"/>
              </a:rPr>
              <a:t>$220 billion</a:t>
            </a:r>
            <a:r>
              <a:rPr lang="en-US" dirty="0">
                <a:latin typeface="Corbel" panose="020B0503020204020204" pitchFamily="34" charset="0"/>
              </a:rPr>
              <a:t> annually.</a:t>
            </a:r>
            <a:br>
              <a:rPr lang="en-US" dirty="0">
                <a:latin typeface="Corbel" panose="020B0503020204020204" pitchFamily="34" charset="0"/>
              </a:rPr>
            </a:br>
            <a:br>
              <a:rPr lang="en-US" dirty="0">
                <a:latin typeface="Corbel" panose="020B0503020204020204" pitchFamily="34" charset="0"/>
              </a:rPr>
            </a:br>
            <a:br>
              <a:rPr lang="en-US" dirty="0">
                <a:latin typeface="Corbel" panose="020B0503020204020204" pitchFamily="34" charset="0"/>
              </a:rPr>
            </a:br>
            <a:r>
              <a:rPr lang="en-US" b="1" dirty="0">
                <a:latin typeface="Corbel" panose="020B0503020204020204" pitchFamily="34" charset="0"/>
              </a:rPr>
              <a:t>The Solution: Offline Edge AI</a:t>
            </a:r>
            <a:br>
              <a:rPr lang="en-US" dirty="0">
                <a:latin typeface="Corbel" panose="020B0503020204020204" pitchFamily="34" charset="0"/>
              </a:rPr>
            </a:br>
            <a:r>
              <a:rPr lang="en-US" dirty="0">
                <a:latin typeface="Corbel" panose="020B0503020204020204" pitchFamily="34" charset="0"/>
              </a:rPr>
              <a:t>Addressing the "Connectivity Gap" by bringing high-performance AI directly to the farm without requiring internet access.</a:t>
            </a:r>
            <a:endParaRPr lang="en-US" dirty="0">
              <a:latin typeface="Corbel" panose="020B0503020204020204" pitchFamily="34" charset="0"/>
              <a:cs typeface="Arial" panose="020B0604020202020204" pitchFamily="34" charset="0"/>
            </a:endParaRPr>
          </a:p>
        </p:txBody>
      </p:sp>
    </p:spTree>
    <p:extLst>
      <p:ext uri="{BB962C8B-B14F-4D97-AF65-F5344CB8AC3E}">
        <p14:creationId xmlns:p14="http://schemas.microsoft.com/office/powerpoint/2010/main" val="316297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PROBLEM STATEMENT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81968" y="77275"/>
            <a:ext cx="657803" cy="711726"/>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286CECEC-CB3B-4765-9B37-346AE47686A2}"/>
              </a:ext>
            </a:extLst>
          </p:cNvPr>
          <p:cNvSpPr>
            <a:spLocks noGrp="1"/>
          </p:cNvSpPr>
          <p:nvPr>
            <p:ph type="sldNum" sz="quarter" idx="12"/>
          </p:nvPr>
        </p:nvSpPr>
        <p:spPr/>
        <p:txBody>
          <a:bodyPr/>
          <a:lstStyle/>
          <a:p>
            <a:fld id="{60CB7500-84E7-42C8-9A57-AC33187A24A8}" type="slidenum">
              <a:rPr lang="en-GB" smtClean="0"/>
              <a:t>3</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3FE0C3BD-484F-C505-169C-C95D682AE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77273"/>
            <a:ext cx="1028700" cy="511767"/>
          </a:xfrm>
          <a:prstGeom prst="rect">
            <a:avLst/>
          </a:prstGeom>
        </p:spPr>
      </p:pic>
      <p:sp>
        <p:nvSpPr>
          <p:cNvPr id="9" name="TextBox 8">
            <a:extLst>
              <a:ext uri="{FF2B5EF4-FFF2-40B4-BE49-F238E27FC236}">
                <a16:creationId xmlns:a16="http://schemas.microsoft.com/office/drawing/2014/main" id="{7AE698EC-3325-78D3-ED90-758BF80B9F5B}"/>
              </a:ext>
            </a:extLst>
          </p:cNvPr>
          <p:cNvSpPr txBox="1"/>
          <p:nvPr/>
        </p:nvSpPr>
        <p:spPr>
          <a:xfrm>
            <a:off x="1177223" y="1222310"/>
            <a:ext cx="10103487" cy="369332"/>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2326E746-8512-6A31-629B-A68C6AC5D728}"/>
              </a:ext>
            </a:extLst>
          </p:cNvPr>
          <p:cNvSpPr txBox="1"/>
          <p:nvPr/>
        </p:nvSpPr>
        <p:spPr>
          <a:xfrm>
            <a:off x="1035698" y="1110343"/>
            <a:ext cx="10245012" cy="4524315"/>
          </a:xfrm>
          <a:prstGeom prst="rect">
            <a:avLst/>
          </a:prstGeom>
          <a:noFill/>
        </p:spPr>
        <p:txBody>
          <a:bodyPr wrap="square" rtlCol="0">
            <a:spAutoFit/>
          </a:bodyPr>
          <a:lstStyle/>
          <a:p>
            <a:r>
              <a:rPr lang="en-US" dirty="0">
                <a:latin typeface="Corbel" panose="020B0503020204020204" pitchFamily="34" charset="0"/>
              </a:rPr>
              <a:t>Six critical challenges drive this project:</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Late Diagnosis:</a:t>
            </a:r>
            <a:r>
              <a:rPr lang="en-US" dirty="0">
                <a:latin typeface="Corbel" panose="020B0503020204020204" pitchFamily="34" charset="0"/>
              </a:rPr>
              <a:t> 5–7day delays in detecting diseases like Late Blight can destroy an entire season.</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Subjectivity:</a:t>
            </a:r>
            <a:r>
              <a:rPr lang="en-US" dirty="0">
                <a:latin typeface="Corbel" panose="020B0503020204020204" pitchFamily="34" charset="0"/>
              </a:rPr>
              <a:t> Human visual inspection is inconsistent; similar-looking diseases (e.g., Early Blight vs. Septoria Spot) lead to misdiagnosis.</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Expert Scarcity:</a:t>
            </a:r>
            <a:r>
              <a:rPr lang="en-US" dirty="0">
                <a:latin typeface="Corbel" panose="020B0503020204020204" pitchFamily="34" charset="0"/>
              </a:rPr>
              <a:t> Pathologists are urban-centered, leaving rural farmers without specialist guidance.</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No Environmental Context:</a:t>
            </a:r>
            <a:r>
              <a:rPr lang="en-US" dirty="0">
                <a:latin typeface="Corbel" panose="020B0503020204020204" pitchFamily="34" charset="0"/>
              </a:rPr>
              <a:t> Disease spread is tied to temperature and humidity (e.g., Late Blight thrives at &gt;90% RH), but current methods ignore these factors.</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Data Absence:</a:t>
            </a:r>
            <a:r>
              <a:rPr lang="en-US" dirty="0">
                <a:latin typeface="Corbel" panose="020B0503020204020204" pitchFamily="34" charset="0"/>
              </a:rPr>
              <a:t> Farmers lack historical logs to identify seasonal patterns or hotspots.</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Exclusionary Costs:</a:t>
            </a:r>
            <a:r>
              <a:rPr lang="en-US" dirty="0">
                <a:latin typeface="Corbel" panose="020B0503020204020204" pitchFamily="34" charset="0"/>
              </a:rPr>
              <a:t> Existing smart systems are expensive and dependent on cloud connectivity.</a:t>
            </a:r>
          </a:p>
          <a:p>
            <a:endParaRPr lang="en-US" dirty="0">
              <a:latin typeface="Corbel" panose="020B0503020204020204" pitchFamily="34" charset="0"/>
            </a:endParaRPr>
          </a:p>
        </p:txBody>
      </p:sp>
    </p:spTree>
    <p:extLst>
      <p:ext uri="{BB962C8B-B14F-4D97-AF65-F5344CB8AC3E}">
        <p14:creationId xmlns:p14="http://schemas.microsoft.com/office/powerpoint/2010/main" val="103338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AIM AND OBJECTIVES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6D95DEBF-0917-4EDA-A968-A1187456EEEC}"/>
              </a:ext>
            </a:extLst>
          </p:cNvPr>
          <p:cNvSpPr>
            <a:spLocks noGrp="1"/>
          </p:cNvSpPr>
          <p:nvPr>
            <p:ph type="sldNum" sz="quarter" idx="12"/>
          </p:nvPr>
        </p:nvSpPr>
        <p:spPr/>
        <p:txBody>
          <a:bodyPr/>
          <a:lstStyle/>
          <a:p>
            <a:fld id="{60CB7500-84E7-42C8-9A57-AC33187A24A8}" type="slidenum">
              <a:rPr lang="en-GB" smtClean="0"/>
              <a:t>4</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7FCA6E0F-0184-C480-34F3-1B4150D38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sp>
        <p:nvSpPr>
          <p:cNvPr id="6" name="TextBox 5">
            <a:extLst>
              <a:ext uri="{FF2B5EF4-FFF2-40B4-BE49-F238E27FC236}">
                <a16:creationId xmlns:a16="http://schemas.microsoft.com/office/drawing/2014/main" id="{FFE6503A-23D9-1A67-0198-877CE14E0F23}"/>
              </a:ext>
            </a:extLst>
          </p:cNvPr>
          <p:cNvSpPr txBox="1"/>
          <p:nvPr/>
        </p:nvSpPr>
        <p:spPr>
          <a:xfrm>
            <a:off x="1129004" y="1464906"/>
            <a:ext cx="10300996" cy="5078313"/>
          </a:xfrm>
          <a:prstGeom prst="rect">
            <a:avLst/>
          </a:prstGeom>
          <a:noFill/>
        </p:spPr>
        <p:txBody>
          <a:bodyPr wrap="square" rtlCol="0">
            <a:spAutoFit/>
          </a:bodyPr>
          <a:lstStyle/>
          <a:p>
            <a:r>
              <a:rPr lang="en-US" b="1" dirty="0">
                <a:latin typeface="Corbel" panose="020B0503020204020204" pitchFamily="34" charset="0"/>
              </a:rPr>
              <a:t>Aim:</a:t>
            </a:r>
            <a:r>
              <a:rPr lang="en-US" dirty="0">
                <a:latin typeface="Corbel" panose="020B0503020204020204" pitchFamily="34" charset="0"/>
              </a:rPr>
              <a:t> To automate crop disease detection using edge AI on dedicated NPU hardware, coupled with continuous environmental monitoring.</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Key Objectives:</a:t>
            </a:r>
            <a:br>
              <a:rPr lang="en-US" b="1"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Hardware Integration:</a:t>
            </a:r>
            <a:r>
              <a:rPr lang="en-US" dirty="0">
                <a:latin typeface="Corbel" panose="020B0503020204020204" pitchFamily="34" charset="0"/>
              </a:rPr>
              <a:t> Combine Raspberry Pi 5, Hailo-8L NPU (26 TOPS), and DHT22 sensors into a low-cost unit.</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Model Training:</a:t>
            </a:r>
            <a:r>
              <a:rPr lang="en-US" dirty="0">
                <a:latin typeface="Corbel" panose="020B0503020204020204" pitchFamily="34" charset="0"/>
              </a:rPr>
              <a:t> Achieve </a:t>
            </a:r>
            <a:r>
              <a:rPr lang="en-US" b="1" dirty="0">
                <a:latin typeface="Corbel" panose="020B0503020204020204" pitchFamily="34" charset="0"/>
              </a:rPr>
              <a:t>mAP &gt;= 85%</a:t>
            </a:r>
            <a:r>
              <a:rPr lang="en-US" dirty="0">
                <a:latin typeface="Corbel" panose="020B0503020204020204" pitchFamily="34" charset="0"/>
              </a:rPr>
              <a:t> using YOLOv8 on the </a:t>
            </a:r>
            <a:r>
              <a:rPr lang="en-US" dirty="0" err="1">
                <a:latin typeface="Corbel" panose="020B0503020204020204" pitchFamily="34" charset="0"/>
              </a:rPr>
              <a:t>PlantVillage</a:t>
            </a:r>
            <a:r>
              <a:rPr lang="en-US" dirty="0">
                <a:latin typeface="Corbel" panose="020B0503020204020204" pitchFamily="34" charset="0"/>
              </a:rPr>
              <a:t> datasets.</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NPU Deployment:</a:t>
            </a:r>
            <a:r>
              <a:rPr lang="en-US" dirty="0">
                <a:latin typeface="Corbel" panose="020B0503020204020204" pitchFamily="34" charset="0"/>
              </a:rPr>
              <a:t> Compile the model into Hailo Executable Format (HEF) for real-time inference (&lt;10ms per frame).</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System Integration:</a:t>
            </a:r>
            <a:r>
              <a:rPr lang="en-US" dirty="0">
                <a:latin typeface="Corbel" panose="020B0503020204020204" pitchFamily="34" charset="0"/>
              </a:rPr>
              <a:t> Develop a local SQLite database and a real-time web dashboard accessible via local network.</a:t>
            </a:r>
            <a:br>
              <a:rPr lang="en-US" dirty="0">
                <a:latin typeface="Corbel" panose="020B0503020204020204" pitchFamily="34" charset="0"/>
              </a:rPr>
            </a:br>
            <a:endParaRPr lang="en-US" dirty="0">
              <a:latin typeface="Corbel" panose="020B0503020204020204" pitchFamily="34" charset="0"/>
            </a:endParaRPr>
          </a:p>
          <a:p>
            <a:r>
              <a:rPr lang="en-US" b="1" dirty="0">
                <a:latin typeface="Corbel" panose="020B0503020204020204" pitchFamily="34" charset="0"/>
              </a:rPr>
              <a:t>Alerting:</a:t>
            </a:r>
            <a:r>
              <a:rPr lang="en-US" dirty="0">
                <a:latin typeface="Corbel" panose="020B0503020204020204" pitchFamily="34" charset="0"/>
              </a:rPr>
              <a:t> Implement email or SMS notifications for high-severity detections.</a:t>
            </a:r>
          </a:p>
          <a:p>
            <a:endParaRPr lang="en-US" dirty="0">
              <a:latin typeface="Corbel" panose="020B0503020204020204" pitchFamily="34" charset="0"/>
            </a:endParaRPr>
          </a:p>
        </p:txBody>
      </p:sp>
    </p:spTree>
    <p:extLst>
      <p:ext uri="{BB962C8B-B14F-4D97-AF65-F5344CB8AC3E}">
        <p14:creationId xmlns:p14="http://schemas.microsoft.com/office/powerpoint/2010/main" val="43706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4000" dirty="0">
                <a:latin typeface="Corbel" panose="020B0503020204020204" pitchFamily="34" charset="0"/>
                <a:cs typeface="Arial" panose="020B0604020202020204" pitchFamily="34" charset="0"/>
              </a:rPr>
              <a:t>METHODOLOGY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4F013CF2-E240-49B7-AE34-B318D306B1CA}"/>
              </a:ext>
            </a:extLst>
          </p:cNvPr>
          <p:cNvSpPr>
            <a:spLocks noGrp="1"/>
          </p:cNvSpPr>
          <p:nvPr>
            <p:ph type="sldNum" sz="quarter" idx="12"/>
          </p:nvPr>
        </p:nvSpPr>
        <p:spPr/>
        <p:txBody>
          <a:bodyPr/>
          <a:lstStyle/>
          <a:p>
            <a:fld id="{60CB7500-84E7-42C8-9A57-AC33187A24A8}" type="slidenum">
              <a:rPr lang="en-GB" smtClean="0"/>
              <a:t>5</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0E94A5F8-459F-E0F5-B38B-C12C5C86B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10" name="TextBox 9">
            <a:extLst>
              <a:ext uri="{FF2B5EF4-FFF2-40B4-BE49-F238E27FC236}">
                <a16:creationId xmlns:a16="http://schemas.microsoft.com/office/drawing/2014/main" id="{F9AE72DB-D417-73F6-C75A-BD3950F5E474}"/>
              </a:ext>
            </a:extLst>
          </p:cNvPr>
          <p:cNvSpPr txBox="1"/>
          <p:nvPr/>
        </p:nvSpPr>
        <p:spPr>
          <a:xfrm>
            <a:off x="1278294" y="1300766"/>
            <a:ext cx="9405257" cy="1477328"/>
          </a:xfrm>
          <a:prstGeom prst="rect">
            <a:avLst/>
          </a:prstGeom>
          <a:noFill/>
        </p:spPr>
        <p:txBody>
          <a:bodyPr wrap="square" rtlCol="0">
            <a:spAutoFit/>
          </a:bodyPr>
          <a:lstStyle/>
          <a:p>
            <a:r>
              <a:rPr lang="en-US" b="1" dirty="0"/>
              <a:t>Framework: Agile Software Development</a:t>
            </a:r>
          </a:p>
          <a:p>
            <a:r>
              <a:rPr lang="en-US" dirty="0"/>
              <a:t>A 5-sprint structure with iterative cycles covering hardware setup, model training, NPU compilation, sensor integration, and API/Dashboard development.</a:t>
            </a:r>
            <a:br>
              <a:rPr lang="en-US" dirty="0"/>
            </a:br>
            <a:endParaRPr lang="en-US" dirty="0"/>
          </a:p>
          <a:p>
            <a:endParaRPr lang="en-US" dirty="0"/>
          </a:p>
        </p:txBody>
      </p:sp>
      <p:pic>
        <p:nvPicPr>
          <p:cNvPr id="8" name="Picture 7">
            <a:extLst>
              <a:ext uri="{FF2B5EF4-FFF2-40B4-BE49-F238E27FC236}">
                <a16:creationId xmlns:a16="http://schemas.microsoft.com/office/drawing/2014/main" id="{1E99BF61-445C-89AA-999A-CA97FDC9A7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3120" y="2271972"/>
            <a:ext cx="7207480" cy="1920240"/>
          </a:xfrm>
          <a:prstGeom prst="rect">
            <a:avLst/>
          </a:prstGeom>
        </p:spPr>
      </p:pic>
      <p:pic>
        <p:nvPicPr>
          <p:cNvPr id="15" name="Picture 14">
            <a:extLst>
              <a:ext uri="{FF2B5EF4-FFF2-40B4-BE49-F238E27FC236}">
                <a16:creationId xmlns:a16="http://schemas.microsoft.com/office/drawing/2014/main" id="{056D92AB-AF80-443B-672A-F1E0C9E649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4237" y="4192212"/>
            <a:ext cx="7987004" cy="2275678"/>
          </a:xfrm>
          <a:prstGeom prst="rect">
            <a:avLst/>
          </a:prstGeom>
        </p:spPr>
      </p:pic>
    </p:spTree>
    <p:extLst>
      <p:ext uri="{BB962C8B-B14F-4D97-AF65-F5344CB8AC3E}">
        <p14:creationId xmlns:p14="http://schemas.microsoft.com/office/powerpoint/2010/main" val="323100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2916844" y="2863029"/>
            <a:ext cx="6471919" cy="14598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6600" b="1" dirty="0">
                <a:latin typeface="Corbel" panose="020B0503020204020204" pitchFamily="34" charset="0"/>
                <a:ea typeface="Arial" charset="0"/>
                <a:cs typeface="Arial" charset="0"/>
              </a:rPr>
              <a:t>QUESTIONS?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9920" y="26962"/>
            <a:ext cx="787333" cy="851874"/>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6</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CCACE4D8-B727-00FB-6E4F-4CF49BCB0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202497"/>
            <a:ext cx="1028700" cy="476250"/>
          </a:xfrm>
          <a:prstGeom prst="rect">
            <a:avLst/>
          </a:prstGeom>
        </p:spPr>
      </p:pic>
    </p:spTree>
    <p:extLst>
      <p:ext uri="{BB962C8B-B14F-4D97-AF65-F5344CB8AC3E}">
        <p14:creationId xmlns:p14="http://schemas.microsoft.com/office/powerpoint/2010/main" val="3662799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1603332" y="1427967"/>
            <a:ext cx="7828767" cy="21294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6600" b="1" dirty="0">
                <a:latin typeface="Corbel" panose="020B0503020204020204" pitchFamily="34" charset="0"/>
                <a:ea typeface="Arial" charset="0"/>
                <a:cs typeface="Arial" charset="0"/>
              </a:rPr>
              <a:t>Thank you for listening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3800" y="77274"/>
            <a:ext cx="719178" cy="778132"/>
          </a:xfrm>
          <a:prstGeom prst="rect">
            <a:avLst/>
          </a:prstGeom>
        </p:spPr>
      </p:pic>
      <p:sp>
        <p:nvSpPr>
          <p:cNvPr id="4" name="Footer Placeholder 3"/>
          <p:cNvSpPr>
            <a:spLocks noGrp="1"/>
          </p:cNvSpPr>
          <p:nvPr>
            <p:ph type="ftr" sz="quarter" idx="11"/>
          </p:nvPr>
        </p:nvSpPr>
        <p:spPr/>
        <p:txBody>
          <a:bodyPr/>
          <a:lstStyle/>
          <a:p>
            <a:r>
              <a:rPr lang="en-US" dirty="0"/>
              <a:t>Department of Software Engineering -  Seminar  ©2026</a:t>
            </a:r>
            <a:endParaRPr lang="en-GB" dirty="0"/>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fld id="{60CB7500-84E7-42C8-9A57-AC33187A24A8}" type="slidenum">
              <a:rPr lang="en-GB" smtClean="0"/>
              <a:t>7</a:t>
            </a:fld>
            <a:endParaRPr lang="en-GB"/>
          </a:p>
        </p:txBody>
      </p:sp>
      <p:pic>
        <p:nvPicPr>
          <p:cNvPr id="7" name="Picture 6" descr="A logo with green letters and a chip&#10;&#10;Description automatically generated">
            <a:extLst>
              <a:ext uri="{FF2B5EF4-FFF2-40B4-BE49-F238E27FC236}">
                <a16:creationId xmlns:a16="http://schemas.microsoft.com/office/drawing/2014/main" id="{A030377E-0F32-F427-E999-860F55DEB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77274"/>
            <a:ext cx="1028700" cy="476250"/>
          </a:xfrm>
          <a:prstGeom prst="rect">
            <a:avLst/>
          </a:prstGeom>
        </p:spPr>
      </p:pic>
    </p:spTree>
    <p:extLst>
      <p:ext uri="{BB962C8B-B14F-4D97-AF65-F5344CB8AC3E}">
        <p14:creationId xmlns:p14="http://schemas.microsoft.com/office/powerpoint/2010/main" val="3221025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2362</TotalTime>
  <Words>502</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Corbel</vt:lpstr>
      <vt:lpstr>Office Theme</vt:lpstr>
      <vt:lpstr>DESIGN AND IMPLEMENTATION OF AN IOT SYSTEM FOR CROP DISEASE DETECTION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CHECKLIST FOR PRESENTERS   cover slide: please provide us with your name, your department and your nationality. Do not change any of the logos or the layout of the cover slide and enter your information only in the placeholders provided using the same font/siz  first content slide: explain the particular cyber security challenge you want to solve as the problem domain.  second content slide: make sure to explain your proposed solution to combating cyber crime in Nigeria. Restrict your solution to a single point that can be developed further in a full blown research work.  Please keep in mind that you have 5min to make your presentation before the question and answer section will commence.</dc:title>
  <dc:creator>Amadi</dc:creator>
  <cp:lastModifiedBy>sammyjayisthename@gmail.com</cp:lastModifiedBy>
  <cp:revision>35</cp:revision>
  <cp:lastPrinted>2018-08-23T20:36:32Z</cp:lastPrinted>
  <dcterms:created xsi:type="dcterms:W3CDTF">2018-07-05T09:04:15Z</dcterms:created>
  <dcterms:modified xsi:type="dcterms:W3CDTF">2026-04-28T07:06:53Z</dcterms:modified>
</cp:coreProperties>
</file>